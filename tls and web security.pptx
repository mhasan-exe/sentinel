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794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97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06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960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75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89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25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746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39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456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790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371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01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60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1994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9083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1892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274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5234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546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732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9944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232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77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07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018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3781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F93CF4F4-AF23-4CF8-82E8-D8C6C66CAFEA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7471A54-0889-41F5-A566-5ADC6335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29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  <p:sldLayoutId id="2147483792" r:id="rId18"/>
    <p:sldLayoutId id="2147483793" r:id="rId19"/>
    <p:sldLayoutId id="2147483794" r:id="rId20"/>
    <p:sldLayoutId id="2147483795" r:id="rId21"/>
    <p:sldLayoutId id="2147483796" r:id="rId22"/>
    <p:sldLayoutId id="2147483797" r:id="rId23"/>
    <p:sldLayoutId id="2147483798" r:id="rId24"/>
    <p:sldLayoutId id="2147483799" r:id="rId25"/>
    <p:sldLayoutId id="2147483800" r:id="rId26"/>
    <p:sldLayoutId id="2147483801" r:id="rId27"/>
    <p:sldLayoutId id="2147483802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1EA7FA-98CE-CBE0-7252-D30945ED44DC}"/>
              </a:ext>
            </a:extLst>
          </p:cNvPr>
          <p:cNvSpPr/>
          <p:nvPr/>
        </p:nvSpPr>
        <p:spPr>
          <a:xfrm>
            <a:off x="813148" y="2878844"/>
            <a:ext cx="10565703" cy="144655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40A04050005020304" pitchFamily="18" charset="0"/>
                <a:ea typeface="ADLaM Display" panose="020F0502020204030204" pitchFamily="2" charset="0"/>
                <a:cs typeface="ADLaM Display" panose="020F0502020204030204" pitchFamily="2" charset="0"/>
              </a:rPr>
              <a:t>HOW TLS WORKS</a:t>
            </a:r>
          </a:p>
        </p:txBody>
      </p:sp>
    </p:spTree>
    <p:extLst>
      <p:ext uri="{BB962C8B-B14F-4D97-AF65-F5344CB8AC3E}">
        <p14:creationId xmlns:p14="http://schemas.microsoft.com/office/powerpoint/2010/main" val="22361720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3C570-ED5F-524A-5CEE-FBE70F42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CD33CC3-0A15-4845-C49E-87F531B44C86}"/>
              </a:ext>
            </a:extLst>
          </p:cNvPr>
          <p:cNvSpPr/>
          <p:nvPr/>
        </p:nvSpPr>
        <p:spPr>
          <a:xfrm>
            <a:off x="2542632" y="165141"/>
            <a:ext cx="7106736" cy="10156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HOW TLS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4541F9-73FB-4A32-440C-DA0EFB3D5859}"/>
              </a:ext>
            </a:extLst>
          </p:cNvPr>
          <p:cNvSpPr/>
          <p:nvPr/>
        </p:nvSpPr>
        <p:spPr>
          <a:xfrm>
            <a:off x="103239" y="1438419"/>
            <a:ext cx="243939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5FB6F8-FA76-2B57-873A-BDEA9522ADD2}"/>
              </a:ext>
            </a:extLst>
          </p:cNvPr>
          <p:cNvSpPr/>
          <p:nvPr/>
        </p:nvSpPr>
        <p:spPr>
          <a:xfrm>
            <a:off x="9429136" y="1438419"/>
            <a:ext cx="2439393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SERVER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09C5C9F-C722-4F38-B569-925C44FEAC44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542632" y="1700029"/>
            <a:ext cx="6886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1227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AD8C-B56E-2F42-B098-B86C59398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EBDEB0-B910-AE12-A750-70BFE250A33E}"/>
              </a:ext>
            </a:extLst>
          </p:cNvPr>
          <p:cNvSpPr/>
          <p:nvPr/>
        </p:nvSpPr>
        <p:spPr>
          <a:xfrm>
            <a:off x="2542632" y="165141"/>
            <a:ext cx="7106736" cy="101566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HOW TLS WORKS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09D024-651B-1303-9572-BEBB33DDEC9E}"/>
              </a:ext>
            </a:extLst>
          </p:cNvPr>
          <p:cNvSpPr/>
          <p:nvPr/>
        </p:nvSpPr>
        <p:spPr>
          <a:xfrm>
            <a:off x="507355" y="1440398"/>
            <a:ext cx="2035277" cy="51926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56E1B9-0F28-C893-89FB-38D5C4064CE9}"/>
              </a:ext>
            </a:extLst>
          </p:cNvPr>
          <p:cNvSpPr/>
          <p:nvPr/>
        </p:nvSpPr>
        <p:spPr>
          <a:xfrm>
            <a:off x="10132141" y="1438419"/>
            <a:ext cx="1736387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SERVER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5288EF-2B17-E32B-90A9-24D4FE778BC6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542632" y="1700029"/>
            <a:ext cx="75895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550E13E4-1BEE-0BB4-309C-5D9007429733}"/>
              </a:ext>
            </a:extLst>
          </p:cNvPr>
          <p:cNvSpPr/>
          <p:nvPr/>
        </p:nvSpPr>
        <p:spPr>
          <a:xfrm>
            <a:off x="1028464" y="1961639"/>
            <a:ext cx="1514168" cy="715633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INITIAL REQUEST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DB9609F-F9A8-E90C-3BC4-00AC669A7447}"/>
              </a:ext>
            </a:extLst>
          </p:cNvPr>
          <p:cNvCxnSpPr>
            <a:cxnSpLocks/>
            <a:stCxn id="2" idx="3"/>
            <a:endCxn id="6" idx="2"/>
          </p:cNvCxnSpPr>
          <p:nvPr/>
        </p:nvCxnSpPr>
        <p:spPr>
          <a:xfrm flipV="1">
            <a:off x="2542632" y="1961639"/>
            <a:ext cx="8457703" cy="357817"/>
          </a:xfrm>
          <a:prstGeom prst="bentConnector2">
            <a:avLst/>
          </a:prstGeom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9071B3D-51C3-6F8A-9B42-93F96BA99F22}"/>
              </a:ext>
            </a:extLst>
          </p:cNvPr>
          <p:cNvSpPr/>
          <p:nvPr/>
        </p:nvSpPr>
        <p:spPr>
          <a:xfrm>
            <a:off x="5019864" y="2323414"/>
            <a:ext cx="1932039" cy="7078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TLS HANDSHAKE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EC51991-07F3-F785-6775-5587210D1965}"/>
              </a:ext>
            </a:extLst>
          </p:cNvPr>
          <p:cNvCxnSpPr>
            <a:stCxn id="6" idx="3"/>
            <a:endCxn id="12" idx="3"/>
          </p:cNvCxnSpPr>
          <p:nvPr/>
        </p:nvCxnSpPr>
        <p:spPr>
          <a:xfrm flipH="1">
            <a:off x="6951903" y="1700029"/>
            <a:ext cx="4916625" cy="977328"/>
          </a:xfrm>
          <a:prstGeom prst="bentConnector3">
            <a:avLst>
              <a:gd name="adj1" fmla="val -4650"/>
            </a:avLst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8D5366D6-5A36-7E5D-B240-AB236876B2F7}"/>
              </a:ext>
            </a:extLst>
          </p:cNvPr>
          <p:cNvCxnSpPr>
            <a:stCxn id="3" idx="1"/>
            <a:endCxn id="12" idx="1"/>
          </p:cNvCxnSpPr>
          <p:nvPr/>
        </p:nvCxnSpPr>
        <p:spPr>
          <a:xfrm rot="10800000" flipH="1" flipV="1">
            <a:off x="507354" y="1700029"/>
            <a:ext cx="4512509" cy="977328"/>
          </a:xfrm>
          <a:prstGeom prst="bentConnector3">
            <a:avLst>
              <a:gd name="adj1" fmla="val -506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B0A267AF-D99C-313F-EE8F-50E9D5A4C918}"/>
              </a:ext>
            </a:extLst>
          </p:cNvPr>
          <p:cNvSpPr/>
          <p:nvPr/>
        </p:nvSpPr>
        <p:spPr>
          <a:xfrm>
            <a:off x="2423651" y="2936988"/>
            <a:ext cx="734469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AN ASYMMETRIC EXNRYPTED DIGITAL CERTIFICATE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017DCC20-5984-1CA6-5D22-57BF597632ED}"/>
              </a:ext>
            </a:extLst>
          </p:cNvPr>
          <p:cNvCxnSpPr>
            <a:cxnSpLocks/>
            <a:stCxn id="28" idx="2"/>
          </p:cNvCxnSpPr>
          <p:nvPr/>
        </p:nvCxnSpPr>
        <p:spPr>
          <a:xfrm rot="5400000">
            <a:off x="3962460" y="1450319"/>
            <a:ext cx="339094" cy="392798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71EC2054-DAC5-6F0D-B4EC-E4867D9B96D8}"/>
              </a:ext>
            </a:extLst>
          </p:cNvPr>
          <p:cNvCxnSpPr>
            <a:cxnSpLocks/>
            <a:stCxn id="28" idx="2"/>
          </p:cNvCxnSpPr>
          <p:nvPr/>
        </p:nvCxnSpPr>
        <p:spPr>
          <a:xfrm rot="16200000" flipH="1">
            <a:off x="7833912" y="1506853"/>
            <a:ext cx="339092" cy="38149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7DEEF084-C7E0-ACB7-4576-FDE1945A18E4}"/>
              </a:ext>
            </a:extLst>
          </p:cNvPr>
          <p:cNvSpPr/>
          <p:nvPr/>
        </p:nvSpPr>
        <p:spPr>
          <a:xfrm>
            <a:off x="-315601" y="3383804"/>
            <a:ext cx="2688130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SHARED KEY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4C8E1F-E01B-56BA-2EC6-EA59B0191960}"/>
              </a:ext>
            </a:extLst>
          </p:cNvPr>
          <p:cNvSpPr/>
          <p:nvPr/>
        </p:nvSpPr>
        <p:spPr>
          <a:xfrm>
            <a:off x="10115433" y="3429000"/>
            <a:ext cx="1523008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0214E1-D727-5EFA-B94F-E75FDCE05D79}"/>
              </a:ext>
            </a:extLst>
          </p:cNvPr>
          <p:cNvSpPr/>
          <p:nvPr/>
        </p:nvSpPr>
        <p:spPr>
          <a:xfrm>
            <a:off x="4641818" y="3937801"/>
            <a:ext cx="2688130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ECDHE With AES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D4F98E8-1B04-06CA-A7FB-30C366FF4732}"/>
              </a:ext>
            </a:extLst>
          </p:cNvPr>
          <p:cNvCxnSpPr>
            <a:stCxn id="39" idx="2"/>
            <a:endCxn id="43" idx="1"/>
          </p:cNvCxnSpPr>
          <p:nvPr/>
        </p:nvCxnSpPr>
        <p:spPr>
          <a:xfrm rot="16200000" flipH="1">
            <a:off x="2658170" y="2154208"/>
            <a:ext cx="353942" cy="36133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2BE71234-88FE-61D5-2974-E13C91C3FA27}"/>
              </a:ext>
            </a:extLst>
          </p:cNvPr>
          <p:cNvCxnSpPr>
            <a:stCxn id="41" idx="2"/>
            <a:endCxn id="43" idx="3"/>
          </p:cNvCxnSpPr>
          <p:nvPr/>
        </p:nvCxnSpPr>
        <p:spPr>
          <a:xfrm rot="5400000">
            <a:off x="8949070" y="2209989"/>
            <a:ext cx="308746" cy="35469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7738715-420B-3FEE-A485-3F77A376AE21}"/>
              </a:ext>
            </a:extLst>
          </p:cNvPr>
          <p:cNvCxnSpPr>
            <a:stCxn id="43" idx="2"/>
          </p:cNvCxnSpPr>
          <p:nvPr/>
        </p:nvCxnSpPr>
        <p:spPr>
          <a:xfrm>
            <a:off x="5985883" y="4337911"/>
            <a:ext cx="0" cy="514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07F8CDF-3170-70A7-3078-39DD1FF97777}"/>
              </a:ext>
            </a:extLst>
          </p:cNvPr>
          <p:cNvSpPr/>
          <p:nvPr/>
        </p:nvSpPr>
        <p:spPr>
          <a:xfrm>
            <a:off x="3690547" y="4822722"/>
            <a:ext cx="4590672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CREATES PRIVATE KEY (SHARED)</a:t>
            </a:r>
          </a:p>
        </p:txBody>
      </p:sp>
    </p:spTree>
    <p:extLst>
      <p:ext uri="{BB962C8B-B14F-4D97-AF65-F5344CB8AC3E}">
        <p14:creationId xmlns:p14="http://schemas.microsoft.com/office/powerpoint/2010/main" val="36195247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426EAE-23A1-1A73-D9D4-FEDB74C32858}"/>
              </a:ext>
            </a:extLst>
          </p:cNvPr>
          <p:cNvSpPr/>
          <p:nvPr/>
        </p:nvSpPr>
        <p:spPr>
          <a:xfrm>
            <a:off x="4981504" y="117987"/>
            <a:ext cx="1932039" cy="70788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TLS HANDSHAKE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8DE4FC-9B1D-A625-C278-1C423FAB0A8B}"/>
              </a:ext>
            </a:extLst>
          </p:cNvPr>
          <p:cNvSpPr/>
          <p:nvPr/>
        </p:nvSpPr>
        <p:spPr>
          <a:xfrm>
            <a:off x="2385291" y="731561"/>
            <a:ext cx="7344697" cy="307777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AN ASYMMETRIC EXNRYPTED DIGITAL CERTIFICATE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FE39F6FA-BA4C-B386-2148-800B479839AD}"/>
              </a:ext>
            </a:extLst>
          </p:cNvPr>
          <p:cNvCxnSpPr>
            <a:cxnSpLocks/>
            <a:stCxn id="5" idx="2"/>
          </p:cNvCxnSpPr>
          <p:nvPr/>
        </p:nvCxnSpPr>
        <p:spPr>
          <a:xfrm rot="5400000">
            <a:off x="3924100" y="-755108"/>
            <a:ext cx="339094" cy="39279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FF6ADDC-0910-4C87-CA41-4584DDBFC24A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7795552" y="-698574"/>
            <a:ext cx="339092" cy="381491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9D38BE9-32AE-CE42-73BA-002B45DBA87B}"/>
              </a:ext>
            </a:extLst>
          </p:cNvPr>
          <p:cNvSpPr/>
          <p:nvPr/>
        </p:nvSpPr>
        <p:spPr>
          <a:xfrm>
            <a:off x="-353961" y="1178377"/>
            <a:ext cx="2688130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SHARED KEY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55CF04-0A75-A1AA-C014-7C95DA361886}"/>
              </a:ext>
            </a:extLst>
          </p:cNvPr>
          <p:cNvSpPr/>
          <p:nvPr/>
        </p:nvSpPr>
        <p:spPr>
          <a:xfrm>
            <a:off x="10209808" y="1238321"/>
            <a:ext cx="1523008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0ED954-D31F-00C8-E5CF-5EE464C5CB15}"/>
              </a:ext>
            </a:extLst>
          </p:cNvPr>
          <p:cNvSpPr/>
          <p:nvPr/>
        </p:nvSpPr>
        <p:spPr>
          <a:xfrm>
            <a:off x="4603458" y="1732374"/>
            <a:ext cx="2688130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ECDHE With AES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65A0E51-72D3-27CB-0677-6321F0F42875}"/>
              </a:ext>
            </a:extLst>
          </p:cNvPr>
          <p:cNvCxnSpPr>
            <a:stCxn id="8" idx="2"/>
            <a:endCxn id="10" idx="1"/>
          </p:cNvCxnSpPr>
          <p:nvPr/>
        </p:nvCxnSpPr>
        <p:spPr>
          <a:xfrm rot="16200000" flipH="1">
            <a:off x="2619810" y="-51219"/>
            <a:ext cx="353942" cy="361335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5140558-7C8C-AAFD-7FF6-91CCC4F90CFA}"/>
              </a:ext>
            </a:extLst>
          </p:cNvPr>
          <p:cNvCxnSpPr>
            <a:cxnSpLocks/>
            <a:endCxn id="10" idx="3"/>
          </p:cNvCxnSpPr>
          <p:nvPr/>
        </p:nvCxnSpPr>
        <p:spPr>
          <a:xfrm rot="5400000">
            <a:off x="8910710" y="4562"/>
            <a:ext cx="308746" cy="35469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DD5AB4-F566-8E3A-40E4-50630B959168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>
            <a:off x="5947523" y="2132484"/>
            <a:ext cx="0" cy="3539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9CDB3A5-7CC1-9445-967A-AF72039B8FBC}"/>
              </a:ext>
            </a:extLst>
          </p:cNvPr>
          <p:cNvSpPr/>
          <p:nvPr/>
        </p:nvSpPr>
        <p:spPr>
          <a:xfrm>
            <a:off x="2837340" y="2486426"/>
            <a:ext cx="6220365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AES KEY (HANDSHAKE COMPLETE)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F90142-15A7-0E14-8360-480DC249E1A1}"/>
              </a:ext>
            </a:extLst>
          </p:cNvPr>
          <p:cNvSpPr/>
          <p:nvPr/>
        </p:nvSpPr>
        <p:spPr>
          <a:xfrm>
            <a:off x="0" y="3167390"/>
            <a:ext cx="4590671" cy="5232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ALL OTHER REQUESTS: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A645BC-9332-58BA-779C-B02D3F7836F5}"/>
              </a:ext>
            </a:extLst>
          </p:cNvPr>
          <p:cNvSpPr/>
          <p:nvPr/>
        </p:nvSpPr>
        <p:spPr>
          <a:xfrm>
            <a:off x="1420252" y="3840595"/>
            <a:ext cx="1456639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AES KEY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34E867-CA53-FC83-992A-DFFAC06847EF}"/>
              </a:ext>
            </a:extLst>
          </p:cNvPr>
          <p:cNvSpPr/>
          <p:nvPr/>
        </p:nvSpPr>
        <p:spPr>
          <a:xfrm>
            <a:off x="1746731" y="4594647"/>
            <a:ext cx="803679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tx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AES</a:t>
            </a:r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5263C40-AFE6-E8AB-6AC7-3B8D6376ED11}"/>
              </a:ext>
            </a:extLst>
          </p:cNvPr>
          <p:cNvCxnSpPr>
            <a:cxnSpLocks/>
            <a:stCxn id="8" idx="0"/>
            <a:endCxn id="30" idx="1"/>
          </p:cNvCxnSpPr>
          <p:nvPr/>
        </p:nvCxnSpPr>
        <p:spPr>
          <a:xfrm rot="5400000" flipH="1" flipV="1">
            <a:off x="660832" y="733815"/>
            <a:ext cx="773835" cy="115291"/>
          </a:xfrm>
          <a:prstGeom prst="bentConnector2">
            <a:avLst/>
          </a:prstGeom>
          <a:ln w="19050" cap="flat" cmpd="sng" algn="ctr">
            <a:solidFill>
              <a:schemeClr val="accent6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F46E242D-D3A3-28AB-EE04-59323F499DD3}"/>
              </a:ext>
            </a:extLst>
          </p:cNvPr>
          <p:cNvCxnSpPr>
            <a:cxnSpLocks/>
            <a:stCxn id="9" idx="0"/>
            <a:endCxn id="32" idx="3"/>
          </p:cNvCxnSpPr>
          <p:nvPr/>
        </p:nvCxnSpPr>
        <p:spPr>
          <a:xfrm rot="16200000" flipV="1">
            <a:off x="10342959" y="609968"/>
            <a:ext cx="833779" cy="4229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8BB97F2-BCE6-B79E-8307-36D6226668D7}"/>
              </a:ext>
            </a:extLst>
          </p:cNvPr>
          <p:cNvSpPr/>
          <p:nvPr/>
        </p:nvSpPr>
        <p:spPr>
          <a:xfrm>
            <a:off x="1105395" y="204487"/>
            <a:ext cx="2065508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PRIVATE KEY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BB138B-2B1F-3A00-3E43-203CE0729289}"/>
              </a:ext>
            </a:extLst>
          </p:cNvPr>
          <p:cNvSpPr/>
          <p:nvPr/>
        </p:nvSpPr>
        <p:spPr>
          <a:xfrm>
            <a:off x="8771958" y="204487"/>
            <a:ext cx="1776426" cy="40011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masis MT Pro Black" panose="020F0502020204030204" pitchFamily="18" charset="0"/>
              </a:rPr>
              <a:t>PUBLIC KEY</a:t>
            </a:r>
          </a:p>
        </p:txBody>
      </p: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A438C55-6538-4B4D-B90A-338634B555B8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3779213" y="1868434"/>
            <a:ext cx="1150208" cy="318641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F158307-5DA1-6831-5CA8-275F61FA5DF7}"/>
              </a:ext>
            </a:extLst>
          </p:cNvPr>
          <p:cNvSpPr txBox="1"/>
          <p:nvPr/>
        </p:nvSpPr>
        <p:spPr>
          <a:xfrm>
            <a:off x="10027841" y="2244060"/>
            <a:ext cx="14640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Asymmetric to transfer key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430ED99-29B4-1ED7-827F-1C7E7FBE2EAD}"/>
              </a:ext>
            </a:extLst>
          </p:cNvPr>
          <p:cNvCxnSpPr>
            <a:stCxn id="48" idx="3"/>
            <a:endCxn id="48" idx="3"/>
          </p:cNvCxnSpPr>
          <p:nvPr/>
        </p:nvCxnSpPr>
        <p:spPr>
          <a:xfrm>
            <a:off x="11491855" y="270572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F671972-4D1D-603F-EF85-E83D98F243C0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>
            <a:off x="9057705" y="2686481"/>
            <a:ext cx="970136" cy="192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A4DD8C3-7E6A-008A-B293-47BCFF010DCF}"/>
              </a:ext>
            </a:extLst>
          </p:cNvPr>
          <p:cNvCxnSpPr>
            <a:cxnSpLocks/>
            <a:stCxn id="18" idx="3"/>
            <a:endCxn id="62" idx="1"/>
          </p:cNvCxnSpPr>
          <p:nvPr/>
        </p:nvCxnSpPr>
        <p:spPr>
          <a:xfrm>
            <a:off x="4590671" y="3429000"/>
            <a:ext cx="5435682" cy="51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9306BFB-C22D-30E2-F314-5FE371285F11}"/>
              </a:ext>
            </a:extLst>
          </p:cNvPr>
          <p:cNvSpPr txBox="1"/>
          <p:nvPr/>
        </p:nvSpPr>
        <p:spPr>
          <a:xfrm>
            <a:off x="10026353" y="329624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Symmetric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661536C2-5513-0DEF-DFD6-E3975AAE8502}"/>
              </a:ext>
            </a:extLst>
          </p:cNvPr>
          <p:cNvCxnSpPr>
            <a:cxnSpLocks/>
            <a:stCxn id="21" idx="1"/>
            <a:endCxn id="23" idx="1"/>
          </p:cNvCxnSpPr>
          <p:nvPr/>
        </p:nvCxnSpPr>
        <p:spPr>
          <a:xfrm rot="10800000" flipH="1" flipV="1">
            <a:off x="1420251" y="4040650"/>
            <a:ext cx="326479" cy="754052"/>
          </a:xfrm>
          <a:prstGeom prst="bentConnector3">
            <a:avLst>
              <a:gd name="adj1" fmla="val -7002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A7BF4044-9C44-3255-5A71-46C9F93FC8C4}"/>
              </a:ext>
            </a:extLst>
          </p:cNvPr>
          <p:cNvSpPr txBox="1"/>
          <p:nvPr/>
        </p:nvSpPr>
        <p:spPr>
          <a:xfrm rot="5400000">
            <a:off x="79343" y="4405915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ENCRYPTION</a:t>
            </a: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99AA254A-A809-04AA-AA57-3FD5ACAA69CE}"/>
              </a:ext>
            </a:extLst>
          </p:cNvPr>
          <p:cNvCxnSpPr>
            <a:cxnSpLocks/>
            <a:stCxn id="23" idx="2"/>
            <a:endCxn id="103" idx="1"/>
          </p:cNvCxnSpPr>
          <p:nvPr/>
        </p:nvCxnSpPr>
        <p:spPr>
          <a:xfrm rot="16200000" flipH="1">
            <a:off x="5893659" y="1249668"/>
            <a:ext cx="233809" cy="7723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B7AA9E7-6FDE-D487-A87B-E16AFF5961CB}"/>
              </a:ext>
            </a:extLst>
          </p:cNvPr>
          <p:cNvSpPr txBox="1"/>
          <p:nvPr/>
        </p:nvSpPr>
        <p:spPr>
          <a:xfrm>
            <a:off x="9872556" y="504390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SERVER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AF7A18C-BC5C-29FF-0B10-BCC3088E6BC0}"/>
              </a:ext>
            </a:extLst>
          </p:cNvPr>
          <p:cNvSpPr txBox="1"/>
          <p:nvPr/>
        </p:nvSpPr>
        <p:spPr>
          <a:xfrm>
            <a:off x="4813437" y="5365925"/>
            <a:ext cx="2565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ENCRYPTED STRING</a:t>
            </a:r>
          </a:p>
        </p:txBody>
      </p:sp>
      <p:cxnSp>
        <p:nvCxnSpPr>
          <p:cNvPr id="107" name="Connector: Elbow 106">
            <a:extLst>
              <a:ext uri="{FF2B5EF4-FFF2-40B4-BE49-F238E27FC236}">
                <a16:creationId xmlns:a16="http://schemas.microsoft.com/office/drawing/2014/main" id="{6413B0A8-1016-7230-C5DA-89A24AC2C27D}"/>
              </a:ext>
            </a:extLst>
          </p:cNvPr>
          <p:cNvCxnSpPr>
            <a:cxnSpLocks/>
            <a:stCxn id="103" idx="3"/>
          </p:cNvCxnSpPr>
          <p:nvPr/>
        </p:nvCxnSpPr>
        <p:spPr>
          <a:xfrm>
            <a:off x="10998185" y="5228566"/>
            <a:ext cx="493670" cy="50669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5561C7C7-B629-AF8F-DF3F-816DD7095963}"/>
              </a:ext>
            </a:extLst>
          </p:cNvPr>
          <p:cNvSpPr txBox="1"/>
          <p:nvPr/>
        </p:nvSpPr>
        <p:spPr>
          <a:xfrm>
            <a:off x="10898583" y="5735257"/>
            <a:ext cx="118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AES KEY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6DAC7C5-4545-9728-BA5A-E2C74DE1A729}"/>
              </a:ext>
            </a:extLst>
          </p:cNvPr>
          <p:cNvSpPr txBox="1"/>
          <p:nvPr/>
        </p:nvSpPr>
        <p:spPr>
          <a:xfrm>
            <a:off x="10390127" y="6087324"/>
            <a:ext cx="1721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DECRYPTION</a:t>
            </a:r>
          </a:p>
        </p:txBody>
      </p:sp>
    </p:spTree>
    <p:extLst>
      <p:ext uri="{BB962C8B-B14F-4D97-AF65-F5344CB8AC3E}">
        <p14:creationId xmlns:p14="http://schemas.microsoft.com/office/powerpoint/2010/main" val="381192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9321D-F900-67D9-330E-91FE1CF0B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2556" y="330648"/>
            <a:ext cx="7947405" cy="64633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Shonar Bangla" panose="02020603050405020304" pitchFamily="18" charset="0"/>
                <a:cs typeface="Shonar Bangla" panose="02020603050405020304" pitchFamily="18" charset="0"/>
              </a:rPr>
              <a:t>Why is handshake </a:t>
            </a:r>
            <a:r>
              <a:rPr lang="en-US" sz="3200" u="sng" dirty="0">
                <a:latin typeface="Shonar Bangla" panose="02020603050405020304" pitchFamily="18" charset="0"/>
                <a:cs typeface="Shonar Bangla" panose="02020603050405020304" pitchFamily="18" charset="0"/>
              </a:rPr>
              <a:t>asymmetric</a:t>
            </a:r>
            <a:r>
              <a:rPr lang="en-US" sz="3200" dirty="0">
                <a:latin typeface="Shonar Bangla" panose="02020603050405020304" pitchFamily="18" charset="0"/>
                <a:cs typeface="Shonar Bangla" panose="02020603050405020304" pitchFamily="18" charset="0"/>
              </a:rPr>
              <a:t> but rest requests </a:t>
            </a:r>
            <a:r>
              <a:rPr lang="en-US" sz="3200" u="sng" dirty="0">
                <a:latin typeface="Shonar Bangla" panose="02020603050405020304" pitchFamily="18" charset="0"/>
                <a:cs typeface="Shonar Bangla" panose="02020603050405020304" pitchFamily="18" charset="0"/>
              </a:rPr>
              <a:t>symmetric</a:t>
            </a:r>
            <a:r>
              <a:rPr lang="en-US" sz="3200" dirty="0">
                <a:latin typeface="Shonar Bangla" panose="02020603050405020304" pitchFamily="18" charset="0"/>
                <a:cs typeface="Shonar Bangla" panose="02020603050405020304" pitchFamily="18" charset="0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7BA75-7AD7-E882-0F24-AD6A007603E8}"/>
              </a:ext>
            </a:extLst>
          </p:cNvPr>
          <p:cNvSpPr txBox="1"/>
          <p:nvPr/>
        </p:nvSpPr>
        <p:spPr>
          <a:xfrm>
            <a:off x="132737" y="1592825"/>
            <a:ext cx="107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Asymmetric is USED to perform a HANDSHAKE and create an AES KEY which needs to be SHARED SECRETLY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4FA56-5A20-1B77-826B-AA29ABA7D6E6}"/>
              </a:ext>
            </a:extLst>
          </p:cNvPr>
          <p:cNvSpPr txBox="1"/>
          <p:nvPr/>
        </p:nvSpPr>
        <p:spPr>
          <a:xfrm>
            <a:off x="132737" y="2259157"/>
            <a:ext cx="107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Symmetric is USED when the key already exists and that key is used to encrypt/decrypt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E2ACD-55CA-2DC0-6E6A-61945DEBE9B5}"/>
              </a:ext>
            </a:extLst>
          </p:cNvPr>
          <p:cNvSpPr txBox="1"/>
          <p:nvPr/>
        </p:nvSpPr>
        <p:spPr>
          <a:xfrm>
            <a:off x="1489610" y="3059668"/>
            <a:ext cx="9212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Asymmetric Encryption the KEYS are generated with PUBLIC + PRIVATE KEY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C35E-0D29-6AB0-E298-CEA4DDBBF190}"/>
              </a:ext>
            </a:extLst>
          </p:cNvPr>
          <p:cNvSpPr txBox="1"/>
          <p:nvPr/>
        </p:nvSpPr>
        <p:spPr>
          <a:xfrm>
            <a:off x="1961536" y="3490847"/>
            <a:ext cx="800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Symmetric Encryption the DATA is encrypted through an existing KEY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6F4BD-550A-2C2C-45E5-A9ED9556C253}"/>
              </a:ext>
            </a:extLst>
          </p:cNvPr>
          <p:cNvSpPr txBox="1"/>
          <p:nvPr/>
        </p:nvSpPr>
        <p:spPr>
          <a:xfrm>
            <a:off x="0" y="4044846"/>
            <a:ext cx="55362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EXAMPLE OF ASYMMETRIC: </a:t>
            </a:r>
            <a:b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</a:br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			</a:t>
            </a:r>
            <a:r>
              <a:rPr lang="en-US" u="sng" dirty="0">
                <a:latin typeface="Shonar Bangla" panose="02020603050405020304" pitchFamily="18" charset="0"/>
                <a:cs typeface="Shonar Bangla" panose="02020603050405020304" pitchFamily="18" charset="0"/>
              </a:rPr>
              <a:t>ECDHE + AES = HANDSHAKE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7C0100-3171-67CB-704E-5654806D977E}"/>
              </a:ext>
            </a:extLst>
          </p:cNvPr>
          <p:cNvSpPr txBox="1"/>
          <p:nvPr/>
        </p:nvSpPr>
        <p:spPr>
          <a:xfrm>
            <a:off x="0" y="4845357"/>
            <a:ext cx="6225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EXAMPLE OF SYMMETRIC: </a:t>
            </a:r>
          </a:p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			</a:t>
            </a:r>
            <a:r>
              <a:rPr lang="en-US" u="sng" dirty="0">
                <a:latin typeface="Shonar Bangla" panose="02020603050405020304" pitchFamily="18" charset="0"/>
                <a:cs typeface="Shonar Bangla" panose="02020603050405020304" pitchFamily="18" charset="0"/>
              </a:rPr>
              <a:t>AES KEY + DATA = RANDOM 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82227A-593D-FDF4-AA1B-C90076E008B5}"/>
              </a:ext>
            </a:extLst>
          </p:cNvPr>
          <p:cNvSpPr txBox="1"/>
          <p:nvPr/>
        </p:nvSpPr>
        <p:spPr>
          <a:xfrm>
            <a:off x="1799632" y="5738202"/>
            <a:ext cx="832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Shonar Bangla" panose="020B0502040204020203" pitchFamily="18" charset="0"/>
                <a:cs typeface="Shonar Bangla" panose="020B0502040204020203" pitchFamily="18" charset="0"/>
              </a:rPr>
              <a:t>NO REAL ENCRYPTION WOULD TAKE TEXT ONLY, ALWAYS KEY(s) required</a:t>
            </a:r>
          </a:p>
        </p:txBody>
      </p:sp>
    </p:spTree>
    <p:extLst>
      <p:ext uri="{BB962C8B-B14F-4D97-AF65-F5344CB8AC3E}">
        <p14:creationId xmlns:p14="http://schemas.microsoft.com/office/powerpoint/2010/main" val="424160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D56EDA-7D9E-5FF1-6316-B4469EF1A71F}"/>
              </a:ext>
            </a:extLst>
          </p:cNvPr>
          <p:cNvSpPr txBox="1"/>
          <p:nvPr/>
        </p:nvSpPr>
        <p:spPr>
          <a:xfrm>
            <a:off x="781665" y="412955"/>
            <a:ext cx="2477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TLS: Transport layer Security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9B2BD3-EF24-CD7D-B594-F74C5907BF38}"/>
              </a:ext>
            </a:extLst>
          </p:cNvPr>
          <p:cNvSpPr txBox="1"/>
          <p:nvPr/>
        </p:nvSpPr>
        <p:spPr>
          <a:xfrm>
            <a:off x="781665" y="782287"/>
            <a:ext cx="35252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SSL : Secure Socket Layer | SSL 1.3 = TLS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FF4379-4183-C886-5B14-FE81B3DD8FEE}"/>
              </a:ext>
            </a:extLst>
          </p:cNvPr>
          <p:cNvSpPr txBox="1"/>
          <p:nvPr/>
        </p:nvSpPr>
        <p:spPr>
          <a:xfrm>
            <a:off x="781664" y="1151619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Random characters: String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8ED7E2-2A06-34DA-F931-745A00D34C26}"/>
              </a:ext>
            </a:extLst>
          </p:cNvPr>
          <p:cNvSpPr txBox="1"/>
          <p:nvPr/>
        </p:nvSpPr>
        <p:spPr>
          <a:xfrm>
            <a:off x="781663" y="1520951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URL: Link/.com/http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C507ED-6D56-0C85-00C3-0BDD26983037}"/>
              </a:ext>
            </a:extLst>
          </p:cNvPr>
          <p:cNvSpPr txBox="1"/>
          <p:nvPr/>
        </p:nvSpPr>
        <p:spPr>
          <a:xfrm>
            <a:off x="781665" y="1890283"/>
            <a:ext cx="2964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HTTP: </a:t>
            </a:r>
            <a:r>
              <a:rPr lang="en-US" dirty="0" err="1">
                <a:latin typeface="Shonar Bangla" panose="02020603050405020304" pitchFamily="18" charset="0"/>
                <a:cs typeface="Shonar Bangla" panose="02020603050405020304" pitchFamily="18" charset="0"/>
              </a:rPr>
              <a:t>HyperText</a:t>
            </a:r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 Transfer Protocol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020707-DBFD-C70D-E133-C77008C2876D}"/>
              </a:ext>
            </a:extLst>
          </p:cNvPr>
          <p:cNvSpPr txBox="1"/>
          <p:nvPr/>
        </p:nvSpPr>
        <p:spPr>
          <a:xfrm>
            <a:off x="781663" y="2299287"/>
            <a:ext cx="3735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HTTP(s): </a:t>
            </a:r>
            <a:r>
              <a:rPr lang="en-US" dirty="0" err="1">
                <a:latin typeface="Shonar Bangla" panose="02020603050405020304" pitchFamily="18" charset="0"/>
                <a:cs typeface="Shonar Bangla" panose="02020603050405020304" pitchFamily="18" charset="0"/>
              </a:rPr>
              <a:t>HyperText</a:t>
            </a:r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 Transfer Protocol Secure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E54246-17A5-6AD3-1BB7-DC2328AEE61D}"/>
              </a:ext>
            </a:extLst>
          </p:cNvPr>
          <p:cNvSpPr txBox="1"/>
          <p:nvPr/>
        </p:nvSpPr>
        <p:spPr>
          <a:xfrm>
            <a:off x="781663" y="2628947"/>
            <a:ext cx="3319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API: Application Programming Interface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A02774-A8C7-4F22-4290-EAA8B33AA067}"/>
              </a:ext>
            </a:extLst>
          </p:cNvPr>
          <p:cNvSpPr txBox="1"/>
          <p:nvPr/>
        </p:nvSpPr>
        <p:spPr>
          <a:xfrm>
            <a:off x="781662" y="2958607"/>
            <a:ext cx="3611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Public Key: Random String or Known string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F2338B-9AA5-C49B-2978-A3248AEFF2AD}"/>
              </a:ext>
            </a:extLst>
          </p:cNvPr>
          <p:cNvSpPr txBox="1"/>
          <p:nvPr/>
        </p:nvSpPr>
        <p:spPr>
          <a:xfrm>
            <a:off x="782691" y="3250462"/>
            <a:ext cx="2476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Private Key: Secret to be kept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5CC8D2-C4E6-39C3-C4A1-E7EC1C8DD06B}"/>
              </a:ext>
            </a:extLst>
          </p:cNvPr>
          <p:cNvSpPr txBox="1"/>
          <p:nvPr/>
        </p:nvSpPr>
        <p:spPr>
          <a:xfrm>
            <a:off x="7064477" y="412955"/>
            <a:ext cx="46217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Step 1: Do a handshake based on two keys</a:t>
            </a:r>
            <a:b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</a:br>
            <a:r>
              <a:rPr lang="en-US" dirty="0">
                <a:latin typeface="Shonar Bangla" panose="02020603050405020304" pitchFamily="18" charset="0"/>
                <a:cs typeface="Shonar Bangla" panose="02020603050405020304" pitchFamily="18" charset="0"/>
              </a:rPr>
              <a:t>Step 2: Use handshake Key to encrypt data </a:t>
            </a:r>
            <a:r>
              <a:rPr lang="en-US" dirty="0" err="1">
                <a:latin typeface="Shonar Bangla" panose="02020603050405020304" pitchFamily="18" charset="0"/>
                <a:cs typeface="Shonar Bangla" panose="02020603050405020304" pitchFamily="18" charset="0"/>
              </a:rPr>
              <a:t>asymmtrically</a:t>
            </a:r>
            <a:endParaRPr lang="en-US" dirty="0">
              <a:latin typeface="Shonar Bangla" panose="02020603050405020304" pitchFamily="18" charset="0"/>
              <a:cs typeface="Shonar Bangla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F6A194-4346-98C5-8D3F-FE25519D22B9}"/>
              </a:ext>
            </a:extLst>
          </p:cNvPr>
          <p:cNvSpPr txBox="1"/>
          <p:nvPr/>
        </p:nvSpPr>
        <p:spPr>
          <a:xfrm>
            <a:off x="781662" y="3502645"/>
            <a:ext cx="3610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INTERCEPT: Catch/HOLD Data</a:t>
            </a:r>
          </a:p>
        </p:txBody>
      </p:sp>
    </p:spTree>
    <p:extLst>
      <p:ext uri="{BB962C8B-B14F-4D97-AF65-F5344CB8AC3E}">
        <p14:creationId xmlns:p14="http://schemas.microsoft.com/office/powerpoint/2010/main" val="3859256756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198</TotalTime>
  <Words>272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Amasis MT Pro Black</vt:lpstr>
      <vt:lpstr>Arial</vt:lpstr>
      <vt:lpstr>Neue Haas Grotesk Text Pro</vt:lpstr>
      <vt:lpstr>Shonar Bangla</vt:lpstr>
      <vt:lpstr>Dune</vt:lpstr>
      <vt:lpstr>PowerPoint Presentation</vt:lpstr>
      <vt:lpstr>PowerPoint Presentation</vt:lpstr>
      <vt:lpstr>PowerPoint Presentation</vt:lpstr>
      <vt:lpstr>PowerPoint Presentation</vt:lpstr>
      <vt:lpstr>Why is handshake asymmetric but rest requests symmetric?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Shahnaz Khalid</dc:creator>
  <cp:lastModifiedBy>Shahnaz Khalid</cp:lastModifiedBy>
  <cp:revision>4</cp:revision>
  <dcterms:created xsi:type="dcterms:W3CDTF">2026-08-22T12:48:26Z</dcterms:created>
  <dcterms:modified xsi:type="dcterms:W3CDTF">2026-08-22T16:06:32Z</dcterms:modified>
</cp:coreProperties>
</file>